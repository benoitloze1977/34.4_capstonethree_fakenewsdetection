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72" r:id="rId6"/>
    <p:sldId id="273" r:id="rId7"/>
    <p:sldId id="274" r:id="rId8"/>
    <p:sldId id="275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81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47B9E-DA94-4F02-97FD-865056B50E08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D2442-701F-47F8-8155-07CD09FFE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29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15710-7960-4FC8-9561-BD07CCEF1071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703F0-78B0-4C9E-A971-04AD8148F30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EACDC-E9C2-451A-B363-F72597DEFA6B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31726-40AD-433A-9B7B-B45837E37A14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Springboard, UK economics (1270 - 1870)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8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442819-A4F0-3EA7-56E7-EC9208E316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7663" y="1"/>
            <a:ext cx="8442325" cy="965914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FC6C15F-CF0C-E6CA-63F3-2DBDBA07C1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20462"/>
            <a:ext cx="3535362" cy="5048563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3EC12E2-AE27-16A8-3856-78B1DFC1AB4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107BFCE-4CB9-4B64-8C0B-3AAC3763CD68}" type="datetime1">
              <a:rPr lang="en-US" smtClean="0"/>
              <a:t>8/26/2025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3339DE8-868C-CBE7-663C-3C9785353A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5B7BA18-7176-A11F-6BA7-9C4B299F44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33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4411-852A-45DB-9474-547015C1AF25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98F1-456E-48E9-A5F6-9D135025578C}" type="datetime1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B398-9602-4CEB-AAF2-40D2019AAD90}" type="datetime1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EC711-4288-47CC-B3EB-4ADEC68DB1C5}" type="datetime1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10033-DABA-4272-AA69-D87912AF271B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01D7-0858-462F-949A-E8BFC41ACCA5}" type="datetime1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78283-2D45-47E3-92C2-CCE1E9F357F3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42741-046A-45F0-85CF-E0AA61AC1BF5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85831-9772-4B43-811D-62E21A4B7AF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/>
              <a:t> Springboard, UK economics (1270 - 1870)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aurabhshahane/fake-news-classificatio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83"/>
            <a:ext cx="9144000" cy="1143000"/>
          </a:xfrm>
        </p:spPr>
        <p:txBody>
          <a:bodyPr>
            <a:normAutofit/>
          </a:bodyPr>
          <a:lstStyle/>
          <a:p>
            <a:r>
              <a:rPr sz="2400" dirty="0"/>
              <a:t>Capstone T</a:t>
            </a:r>
            <a:r>
              <a:rPr lang="en-US" sz="2400" dirty="0"/>
              <a:t>hree</a:t>
            </a:r>
            <a:r>
              <a:rPr sz="2400" dirty="0"/>
              <a:t> </a:t>
            </a:r>
            <a:r>
              <a:rPr lang="en-US" sz="2400" dirty="0"/>
              <a:t>Presentation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4684"/>
            <a:ext cx="8229600" cy="49814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4800" dirty="0">
                <a:sym typeface="Arial"/>
              </a:rPr>
              <a:t>Can we classify news articles as fake or real based on their textual content</a:t>
            </a:r>
            <a:r>
              <a:rPr lang="en-US" sz="4800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sz="2600" dirty="0"/>
              <a:t>Classifying </a:t>
            </a:r>
            <a:r>
              <a:rPr lang="en-US" sz="2600" dirty="0"/>
              <a:t>News</a:t>
            </a:r>
            <a:r>
              <a:rPr sz="2600" dirty="0"/>
              <a:t> Types from Using Machine Learning</a:t>
            </a:r>
            <a:r>
              <a:rPr lang="en-US" sz="2600" dirty="0"/>
              <a:t>, Deep Learning and Transformer.</a:t>
            </a:r>
            <a:endParaRPr sz="2600" dirty="0"/>
          </a:p>
          <a:p>
            <a:pPr marL="0" indent="0">
              <a:buNone/>
            </a:pPr>
            <a:r>
              <a:rPr sz="2600" dirty="0"/>
              <a:t>Benoit Loze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26</a:t>
            </a:r>
            <a:r>
              <a:rPr sz="2600" dirty="0"/>
              <a:t>/0</a:t>
            </a:r>
            <a:r>
              <a:rPr lang="en-US" sz="2600" dirty="0"/>
              <a:t>8</a:t>
            </a:r>
            <a:r>
              <a:rPr sz="2600" dirty="0"/>
              <a:t>/2025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B0BFF-888E-E1BB-A6CF-ACE31943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CD129-C430-4EF4-9509-6A1D3E5CA4F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D86AB-4E0F-9BB9-BEB0-75F03EC30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F79BF-1096-59EA-4016-9D61FDF4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87CCA20-9A35-6E1C-F28E-B1B9771DD8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2192" y="1156381"/>
            <a:ext cx="8448674" cy="5048563"/>
          </a:xfrm>
        </p:spPr>
        <p:txBody>
          <a:bodyPr/>
          <a:lstStyle/>
          <a:p>
            <a:endParaRPr lang="en-US" dirty="0"/>
          </a:p>
          <a:p>
            <a:r>
              <a:rPr lang="en-US" sz="3600" b="1" dirty="0"/>
              <a:t>Goal: </a:t>
            </a:r>
            <a:r>
              <a:rPr lang="en-US" sz="3600" dirty="0"/>
              <a:t>distinguish between fake news and real news.</a:t>
            </a:r>
          </a:p>
          <a:p>
            <a:r>
              <a:rPr lang="en-US" sz="3600" b="1" dirty="0"/>
              <a:t>Success Criteria: DSM + </a:t>
            </a:r>
            <a:r>
              <a:rPr lang="en-US" sz="3600" dirty="0"/>
              <a:t>≥85% accuracy.</a:t>
            </a:r>
          </a:p>
          <a:p>
            <a:r>
              <a:rPr lang="en-US" sz="3600" b="1" dirty="0"/>
              <a:t>Scope: </a:t>
            </a:r>
            <a:r>
              <a:rPr lang="en-US" sz="3600" dirty="0"/>
              <a:t>supervised classification.</a:t>
            </a:r>
          </a:p>
          <a:p>
            <a:r>
              <a:rPr lang="en-US" sz="3600" b="1" dirty="0"/>
              <a:t>Constraints: </a:t>
            </a:r>
            <a:r>
              <a:rPr lang="en-US" sz="3600" dirty="0"/>
              <a:t>missing data, class imbalance, feature engineering.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034D6-5C28-BA10-11A8-DE9734E2720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E9ACEE2-4F32-43B7-99AD-B7E23ED6AB93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FF1A1-D90D-DF11-6A65-68FA3C3D179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Three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84A69-0F68-8DAD-3DCE-D9C9A221DC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381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06E375-3F13-DA0A-5A82-C99795E45E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5864" y="1914604"/>
            <a:ext cx="3633274" cy="3423514"/>
          </a:xfrm>
        </p:spPr>
        <p:txBody>
          <a:bodyPr>
            <a:normAutofit/>
          </a:bodyPr>
          <a:lstStyle/>
          <a:p>
            <a:r>
              <a:rPr lang="en-US" dirty="0"/>
              <a:t>WELFake_Dataset.csv.</a:t>
            </a:r>
          </a:p>
          <a:p>
            <a:r>
              <a:rPr lang="en-US" dirty="0"/>
              <a:t>72,134 balanced entries.</a:t>
            </a:r>
          </a:p>
          <a:p>
            <a:r>
              <a:rPr lang="en-US" dirty="0"/>
              <a:t>Title, text, label features.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7DCC2-E5BC-60BB-1E0D-B4F4A533A8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73C6E-E093-B31C-F957-C4C3BB5063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F5A73-B4DC-7A05-5D93-84EB7325E8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Dataset Description</a:t>
            </a:r>
            <a:endParaRPr sz="2800" dirty="0"/>
          </a:p>
        </p:txBody>
      </p:sp>
      <p:pic>
        <p:nvPicPr>
          <p:cNvPr id="10" name="Picture 9" descr="A pile of newspapers with fake news&#10;&#10;AI-generated content may be incorrect.">
            <a:extLst>
              <a:ext uri="{FF2B5EF4-FFF2-40B4-BE49-F238E27FC236}">
                <a16:creationId xmlns:a16="http://schemas.microsoft.com/office/drawing/2014/main" id="{9E6247A4-7104-FBF8-0979-1C2F435A1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1" r="9361"/>
          <a:stretch>
            <a:fillRect/>
          </a:stretch>
        </p:blipFill>
        <p:spPr>
          <a:xfrm>
            <a:off x="4564219" y="1914604"/>
            <a:ext cx="4232118" cy="34235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E1CA0A-F763-4017-E6BA-DEEC2B946BF8}"/>
              </a:ext>
            </a:extLst>
          </p:cNvPr>
          <p:cNvSpPr txBox="1"/>
          <p:nvPr/>
        </p:nvSpPr>
        <p:spPr>
          <a:xfrm>
            <a:off x="340156" y="5762372"/>
            <a:ext cx="846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Available at: </a:t>
            </a:r>
            <a:r>
              <a:rPr lang="en-US" dirty="0">
                <a:hlinkClick r:id="rId3"/>
              </a:rPr>
              <a:t>https://www.kaggle.com/datasets/saurabhshahane/fake-news-classification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085BD1-71E8-11EA-9644-BFCEE42B48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000"/>
            <a:ext cx="8339137" cy="502602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3600" dirty="0"/>
              <a:t>Missing values removal (&lt;5% nulls). </a:t>
            </a:r>
          </a:p>
          <a:p>
            <a:r>
              <a:rPr lang="en-US" sz="3600" dirty="0"/>
              <a:t>Identification &amp; removal of duplicates.</a:t>
            </a:r>
          </a:p>
          <a:p>
            <a:r>
              <a:rPr lang="en-US" sz="3600" dirty="0"/>
              <a:t>Text normalization: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Tokenization.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Punctuation, digits and stop words removal.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Final lemmatization &amp; character lowering.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651B0-93A9-9A21-D6C2-68DD49F0D6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6F0308F-B896-4163-AC16-9D6103A00B9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5DE23-1FFB-D1CF-7312-C91385FABF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Capstone Two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1663E-0CF8-1FD1-5A85-97CE4862FD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Data Wrangling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215FE-05D4-369E-F428-2443CB96F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985578-A1A6-87A3-377B-AB33A0C777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08674" y="1490349"/>
            <a:ext cx="4224337" cy="4456689"/>
          </a:xfrm>
        </p:spPr>
        <p:txBody>
          <a:bodyPr>
            <a:normAutofit fontScale="77500" lnSpcReduction="20000"/>
          </a:bodyPr>
          <a:lstStyle/>
          <a:p>
            <a:r>
              <a:rPr lang="en-US" sz="4100" dirty="0"/>
              <a:t>Strong discriminators:</a:t>
            </a:r>
          </a:p>
          <a:p>
            <a:endParaRPr lang="en-US" sz="3100" dirty="0"/>
          </a:p>
          <a:p>
            <a:r>
              <a:rPr lang="en-US" sz="3100" dirty="0"/>
              <a:t>POS proper noun/other noun ratio title. </a:t>
            </a:r>
          </a:p>
          <a:p>
            <a:r>
              <a:rPr lang="en-US" sz="3100" dirty="0"/>
              <a:t>NER ratio title. </a:t>
            </a:r>
          </a:p>
          <a:p>
            <a:r>
              <a:rPr lang="en-US" sz="3100" dirty="0"/>
              <a:t>Polarity title. </a:t>
            </a:r>
          </a:p>
          <a:p>
            <a:r>
              <a:rPr lang="en-US" sz="3100" dirty="0"/>
              <a:t>Polarity text. </a:t>
            </a:r>
          </a:p>
          <a:p>
            <a:r>
              <a:rPr lang="en-US" sz="3100" dirty="0"/>
              <a:t>Subjectivity title. </a:t>
            </a:r>
          </a:p>
          <a:p>
            <a:r>
              <a:rPr lang="en-US" sz="3100" dirty="0"/>
              <a:t>Subjectivity text. </a:t>
            </a:r>
          </a:p>
          <a:p>
            <a:r>
              <a:rPr lang="en-US" sz="3100" dirty="0"/>
              <a:t>Readability title. </a:t>
            </a:r>
          </a:p>
          <a:p>
            <a:r>
              <a:rPr lang="en-US" sz="3100" dirty="0"/>
              <a:t>Readability text.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88F3F-ADCE-B1E8-A0BB-3067F4DD853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0181E-ED39-57A8-E93D-811DFC6289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824CD-4B58-7952-EB8F-39CEC00880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E0CCCD-10B7-8D59-CF54-1D27FECF98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C9E5CB-86BB-21BF-E411-3144D3AD8F72}"/>
              </a:ext>
            </a:extLst>
          </p:cNvPr>
          <p:cNvSpPr txBox="1">
            <a:spLocks/>
          </p:cNvSpPr>
          <p:nvPr/>
        </p:nvSpPr>
        <p:spPr>
          <a:xfrm>
            <a:off x="4836375" y="1411603"/>
            <a:ext cx="4098951" cy="44566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 dirty="0"/>
              <a:t>Weak discriminators:</a:t>
            </a:r>
          </a:p>
          <a:p>
            <a:endParaRPr lang="en-US" sz="2600" dirty="0"/>
          </a:p>
          <a:p>
            <a:r>
              <a:rPr lang="en-US" sz="2600" dirty="0"/>
              <a:t>Length of text. </a:t>
            </a:r>
          </a:p>
          <a:p>
            <a:r>
              <a:rPr lang="en-US" sz="2600" dirty="0"/>
              <a:t>Vocabulary richness. </a:t>
            </a:r>
          </a:p>
          <a:p>
            <a:r>
              <a:rPr lang="en-US" sz="2600" dirty="0"/>
              <a:t>Terms frequency. </a:t>
            </a:r>
          </a:p>
          <a:p>
            <a:r>
              <a:rPr lang="en-US" sz="2600" dirty="0"/>
              <a:t>POS proper noun/other noun ratio text. </a:t>
            </a:r>
          </a:p>
          <a:p>
            <a:r>
              <a:rPr lang="en-US" sz="2600" dirty="0"/>
              <a:t>NER ratio text. </a:t>
            </a:r>
          </a:p>
          <a:p>
            <a:r>
              <a:rPr lang="en-US" sz="2600" dirty="0"/>
              <a:t>NER frequency. </a:t>
            </a:r>
          </a:p>
          <a:p>
            <a:endParaRPr lang="en-US" dirty="0"/>
          </a:p>
          <a:p>
            <a:pPr marL="0" indent="0">
              <a:buFont typeface="Arial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2094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3983-B5D5-97A1-0BAC-D0B9EDFEC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58331C-A19E-1276-6E76-D59E26CA66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767987"/>
            <a:ext cx="3280676" cy="4456689"/>
          </a:xfrm>
        </p:spPr>
        <p:txBody>
          <a:bodyPr>
            <a:normAutofit/>
          </a:bodyPr>
          <a:lstStyle/>
          <a:p>
            <a:r>
              <a:rPr lang="en-US" b="1" dirty="0"/>
              <a:t>POS – proper nouns &amp; other nouns ratio:</a:t>
            </a:r>
          </a:p>
          <a:p>
            <a:r>
              <a:rPr lang="en-US" dirty="0"/>
              <a:t>Fake news title = generic nouns.</a:t>
            </a:r>
          </a:p>
          <a:p>
            <a:r>
              <a:rPr lang="en-US" dirty="0"/>
              <a:t>Real news title = proper nouns.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5B4C-8E0D-162C-AC1C-A95376CF2F6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64E76-93B9-96FC-B8F4-2E7EB56FFB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BBB6-7873-7159-5645-0A4ED729BA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3B720-245D-316E-40C3-00BCFBC2B9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8" name="Picture 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38FCB2A-71A1-41B0-36F8-8830EF7BC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410" y="2224401"/>
            <a:ext cx="4949928" cy="295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08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9E8D-963F-DD97-BD88-FF5F13CD9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B6751-0A2D-1E70-24AC-19971694E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9141" y="2053281"/>
            <a:ext cx="3280676" cy="3682418"/>
          </a:xfrm>
        </p:spPr>
        <p:txBody>
          <a:bodyPr>
            <a:normAutofit/>
          </a:bodyPr>
          <a:lstStyle/>
          <a:p>
            <a:r>
              <a:rPr lang="en-US" b="1" dirty="0"/>
              <a:t>NER – Named Entities Recognition:</a:t>
            </a:r>
          </a:p>
          <a:p>
            <a:r>
              <a:rPr lang="en-US" dirty="0"/>
              <a:t>Fake news title = more named entities.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763DD-85E6-3C8E-1925-3DBFE919587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54632-BC8B-B19A-AF35-B91EC4CD36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A857C-C69D-01F1-9493-319F36FF3A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314A20-F8BC-EA64-08CA-DEA38C88D80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9" name="Picture 8" descr="A blue bar graph with text&#10;&#10;AI-generated content may be incorrect.">
            <a:extLst>
              <a:ext uri="{FF2B5EF4-FFF2-40B4-BE49-F238E27FC236}">
                <a16:creationId xmlns:a16="http://schemas.microsoft.com/office/drawing/2014/main" id="{BFF63236-5E54-5486-B7AB-14A0DCC5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120" y="1882738"/>
            <a:ext cx="4938680" cy="368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21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6B1D-F9C1-28B5-0A86-E4782604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9A97D0-2A83-7528-0354-CF34AED45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001"/>
            <a:ext cx="3280676" cy="508167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Polarity &amp; subjectivity:</a:t>
            </a:r>
          </a:p>
          <a:p>
            <a:r>
              <a:rPr lang="en-US" dirty="0"/>
              <a:t>Fake news title = more polarity.</a:t>
            </a:r>
          </a:p>
          <a:p>
            <a:r>
              <a:rPr lang="en-US" dirty="0"/>
              <a:t>Real news title = more subjectivity.</a:t>
            </a:r>
          </a:p>
          <a:p>
            <a:r>
              <a:rPr lang="en-US" dirty="0"/>
              <a:t>Real news text = more subjectivity.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23BC7-2DD6-EACA-1170-B7A3F7B76B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5862F-76BD-957F-0985-38322B5E9D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D85E-3229-868B-1232-015EF7406C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3C03B5-1C3F-94EC-43CA-654160372F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0D8647C3-CB6D-03A6-5C41-8FBE7EF4C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530" y="2016158"/>
            <a:ext cx="4932808" cy="294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2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8D1E5-3ECE-D17F-EECD-28EDD2A7D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9014D4-A5EB-E2D3-8C26-E6E81A3D27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30" y="2072616"/>
            <a:ext cx="3280676" cy="4456689"/>
          </a:xfrm>
        </p:spPr>
        <p:txBody>
          <a:bodyPr>
            <a:normAutofit/>
          </a:bodyPr>
          <a:lstStyle/>
          <a:p>
            <a:r>
              <a:rPr lang="en-US" b="1" dirty="0"/>
              <a:t>Readability:</a:t>
            </a:r>
          </a:p>
          <a:p>
            <a:r>
              <a:rPr lang="en-US" dirty="0"/>
              <a:t>Fake news title = easier to read.</a:t>
            </a:r>
          </a:p>
          <a:p>
            <a:r>
              <a:rPr lang="en-US" dirty="0"/>
              <a:t>Real news text = easier to read.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A5059-E468-CD69-8A23-8A7A9C49FC6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4093C1-62DC-480D-B699-21A56204D547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14391-8561-D0AE-27AA-058C8B44BCB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/>
              <a:t> </a:t>
            </a:r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FDB4-2787-8CD3-ABAD-BC281DAB63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155E3-DC56-A57A-AC45-C5C6900D8E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144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Exploratory Data Analysis – EDA.</a:t>
            </a:r>
            <a:endParaRPr sz="2800" dirty="0"/>
          </a:p>
        </p:txBody>
      </p:sp>
      <p:pic>
        <p:nvPicPr>
          <p:cNvPr id="9" name="Picture 8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7F9A704A-41D0-FDA7-2D76-D4B1BB14A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20" y="1143001"/>
            <a:ext cx="5024650" cy="2489463"/>
          </a:xfrm>
          <a:prstGeom prst="rect">
            <a:avLst/>
          </a:prstGeom>
        </p:spPr>
      </p:pic>
      <p:pic>
        <p:nvPicPr>
          <p:cNvPr id="11" name="Picture 10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11BA136E-7DD5-BBF8-A096-A6E4FC1E2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20" y="3764138"/>
            <a:ext cx="5024650" cy="248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96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7D0594-5474-6108-E99C-300CDC7B7F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43000"/>
            <a:ext cx="8452578" cy="50260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600" dirty="0"/>
              <a:t>Tested Logistic Regression and Random Forest.</a:t>
            </a:r>
          </a:p>
          <a:p>
            <a:r>
              <a:rPr lang="en-US" sz="3600" dirty="0"/>
              <a:t>Evaluated via precision, recall, F1 score, confusion matrix.</a:t>
            </a:r>
          </a:p>
          <a:p>
            <a:r>
              <a:rPr lang="en-US" sz="3600" dirty="0"/>
              <a:t>Avoided misleading accuracy metric.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EF98-85FA-21D6-0302-3DB85D17704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907DC34-38D9-4CDD-90E7-8D03015BE19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7A618-BF00-489D-8F57-E21D84EB55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307D8-EEA8-84C2-CECA-9C490218CC8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Modeling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EEED8F9-04E9-6837-9F8C-B07055A39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47593"/>
            <a:ext cx="8466328" cy="5021432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Used multinomial logistic regression.</a:t>
            </a:r>
          </a:p>
          <a:p>
            <a:r>
              <a:rPr lang="en-US" sz="4000" dirty="0"/>
              <a:t>Bayesian optimization or Random search = same results.</a:t>
            </a:r>
          </a:p>
          <a:p>
            <a:r>
              <a:rPr lang="en-US" sz="4000" dirty="0"/>
              <a:t>Still misclassified many samples due to class imbalance.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18EE-21D6-D60D-07A8-C8EE4F68F96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8F36D46-BF11-4C43-ACD5-4006AE93314D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1ACE9-BC5C-4636-5291-E6546BC8CD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BD18-038E-8CE7-1106-8CC8092392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4593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Logistic Regression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7237-B150-68FA-9679-B37942046A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371CB9-CCFD-4157-A9A6-CB20315AA8CC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A2742-C072-D991-9B9D-9805B27C78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5DAC7-E9E6-4160-DE6B-F7473FD57FC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Logistic </a:t>
            </a:r>
            <a:r>
              <a:rPr lang="en-US" sz="2800" dirty="0"/>
              <a:t>Regression </a:t>
            </a:r>
            <a:r>
              <a:rPr sz="2800" dirty="0"/>
              <a:t>Confusion Matrix</a:t>
            </a:r>
          </a:p>
        </p:txBody>
      </p:sp>
      <p:pic>
        <p:nvPicPr>
          <p:cNvPr id="11" name="Picture 10" descr="A graph with numbers and labels&#10;&#10;AI-generated content may be incorrect.">
            <a:extLst>
              <a:ext uri="{FF2B5EF4-FFF2-40B4-BE49-F238E27FC236}">
                <a16:creationId xmlns:a16="http://schemas.microsoft.com/office/drawing/2014/main" id="{BFE3D016-54F6-35D2-36AE-ACC1DC27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778" y="1389378"/>
            <a:ext cx="5742444" cy="42854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4F513C1-2D0D-7777-3ED3-919B724A7C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3" y="1156381"/>
            <a:ext cx="8452578" cy="5012644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Random Forest with Bayesian optimization yielded best performance.</a:t>
            </a:r>
          </a:p>
          <a:p>
            <a:r>
              <a:rPr lang="en-US" sz="4000" dirty="0"/>
              <a:t>Better balanced precision and recall.</a:t>
            </a:r>
          </a:p>
          <a:p>
            <a:r>
              <a:rPr lang="en-US" sz="4000" dirty="0"/>
              <a:t>Improved Class 7 prediction, fewer misclassifications.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842B0-2F11-5117-813F-E2681830110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1EA50A-E589-410B-A740-D1DA46E1B051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12026-AB03-8B63-C1B5-12236682F5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5F77C-AD39-6A11-A676-D4F963DE1B0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13381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Random Forest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359AC-3630-B48A-285A-1C62CBACD2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E845EF-F29E-4371-85F7-438049C5BF0F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EB2EB-0943-C98F-8903-B5930C74B7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Capstone Two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527C8-7A31-C061-C890-65C9E4E20B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6875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Random Forest </a:t>
            </a:r>
            <a:r>
              <a:rPr lang="en-US" sz="2800" dirty="0"/>
              <a:t>Confusion Matrix</a:t>
            </a:r>
            <a:endParaRPr sz="2800" dirty="0"/>
          </a:p>
        </p:txBody>
      </p:sp>
      <p:pic>
        <p:nvPicPr>
          <p:cNvPr id="11" name="Picture 10" descr="A graph with numbers and labels&#10;&#10;AI-generated content may be incorrect.">
            <a:extLst>
              <a:ext uri="{FF2B5EF4-FFF2-40B4-BE49-F238E27FC236}">
                <a16:creationId xmlns:a16="http://schemas.microsoft.com/office/drawing/2014/main" id="{74565A71-2C05-7412-7E92-BC58A1523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871" y="1286251"/>
            <a:ext cx="5032258" cy="42854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CADC64-57C9-6E5F-58ED-0FFD902CC1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000"/>
            <a:ext cx="8339137" cy="5026025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Random Forest (Bayesian Optimization)</a:t>
            </a:r>
          </a:p>
          <a:p>
            <a:r>
              <a:rPr lang="en-US" sz="4000" dirty="0"/>
              <a:t>F1: 0.81, Precision: 0.79, Recall: 0.84</a:t>
            </a:r>
          </a:p>
          <a:p>
            <a:r>
              <a:rPr lang="en-US" sz="4000" dirty="0"/>
              <a:t>Best handling of class imbalance.</a:t>
            </a:r>
          </a:p>
          <a:p>
            <a:r>
              <a:rPr lang="en-US" sz="4000" dirty="0"/>
              <a:t>Robust across all permit types.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B9FB-30FD-338E-3F02-79E55C1249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74DB5CB-B70D-4BAF-9F60-427BEAA59009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75594-C0AD-CCA1-8D51-80BCE726720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5540F-A2AD-3F4F-5629-A044838F7C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Final Model Selection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0761A0-64DD-AEE5-0124-6917634AB2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7662" y="1143980"/>
            <a:ext cx="8339137" cy="5025045"/>
          </a:xfrm>
        </p:spPr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Efficient pipeline designed to prevent leakage.</a:t>
            </a:r>
          </a:p>
          <a:p>
            <a:r>
              <a:rPr lang="en-US" sz="4000" dirty="0"/>
              <a:t>Models tested and evaluated across real-world constraints.</a:t>
            </a:r>
          </a:p>
          <a:p>
            <a:r>
              <a:rPr lang="en-US" sz="4000" dirty="0"/>
              <a:t>Outcome: Reliable automation of permit type classification using ML.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D7A29-7450-99CF-1A86-D27DD10D03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39E84B8-5116-4B7B-8120-11A3FB9C2B42}" type="datetime1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BEEF6-EEB9-24F5-56BD-32A636DA7C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 dirty="0"/>
              <a:t> </a:t>
            </a:r>
          </a:p>
          <a:p>
            <a:r>
              <a:rPr lang="en-US" dirty="0"/>
              <a:t>Capstone Two Presentation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B67AE-0881-059E-0B55-C0726767FC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980"/>
            <a:ext cx="9144000" cy="1143000"/>
          </a:xfrm>
        </p:spPr>
        <p:txBody>
          <a:bodyPr>
            <a:normAutofit/>
          </a:bodyPr>
          <a:lstStyle/>
          <a:p>
            <a:r>
              <a:rPr sz="2800" dirty="0"/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555</Words>
  <Application>Microsoft Office PowerPoint</Application>
  <PresentationFormat>On-screen Show (4:3)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Wingdings</vt:lpstr>
      <vt:lpstr>Office Theme</vt:lpstr>
      <vt:lpstr>Capstone Three Presentation</vt:lpstr>
      <vt:lpstr>Problem Statement</vt:lpstr>
      <vt:lpstr>Dataset Description</vt:lpstr>
      <vt:lpstr>Data Wrangling</vt:lpstr>
      <vt:lpstr>Exploratory Data Analysis – EDA.</vt:lpstr>
      <vt:lpstr>Exploratory Data Analysis – EDA.</vt:lpstr>
      <vt:lpstr>Exploratory Data Analysis – EDA.</vt:lpstr>
      <vt:lpstr>Exploratory Data Analysis – EDA.</vt:lpstr>
      <vt:lpstr>Exploratory Data Analysis – EDA.</vt:lpstr>
      <vt:lpstr>Modeling Approach</vt:lpstr>
      <vt:lpstr>Logistic Regression</vt:lpstr>
      <vt:lpstr>Logistic Regression Confusion Matrix</vt:lpstr>
      <vt:lpstr>Random Forest</vt:lpstr>
      <vt:lpstr>Random Forest Confusion Matrix</vt:lpstr>
      <vt:lpstr>Final Model Selection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Benoit Loze</dc:creator>
  <cp:keywords/>
  <dc:description>generated using python-pptx</dc:description>
  <cp:lastModifiedBy>Benoit Loze</cp:lastModifiedBy>
  <cp:revision>11</cp:revision>
  <dcterms:created xsi:type="dcterms:W3CDTF">2013-01-27T09:14:16Z</dcterms:created>
  <dcterms:modified xsi:type="dcterms:W3CDTF">2025-08-26T06:05:11Z</dcterms:modified>
  <cp:category/>
</cp:coreProperties>
</file>