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9" r:id="rId4"/>
    <p:sldId id="258" r:id="rId5"/>
    <p:sldId id="272" r:id="rId6"/>
    <p:sldId id="273" r:id="rId7"/>
    <p:sldId id="274" r:id="rId8"/>
    <p:sldId id="275" r:id="rId9"/>
    <p:sldId id="276" r:id="rId10"/>
    <p:sldId id="264" r:id="rId11"/>
    <p:sldId id="278" r:id="rId12"/>
    <p:sldId id="279" r:id="rId13"/>
    <p:sldId id="280" r:id="rId14"/>
    <p:sldId id="270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1688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A47B9E-DA94-4F02-97FD-865056B50E08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DD2442-701F-47F8-8155-07CD09FFE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2999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15710-7960-4FC8-9561-BD07CCEF1071}" type="datetime1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 Springboard, UK economics (1270 - 1870)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703F0-78B0-4C9E-A971-04AD8148F30F}" type="datetime1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 Springboard, UK economics (1270 - 1870)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EACDC-E9C2-451A-B363-F72597DEFA6B}" type="datetime1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 Springboard, UK economics (1270 - 1870)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31726-40AD-433A-9B7B-B45837E37A14}" type="datetime1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Springboard, UK economics (1270 - 1870)</a:t>
            </a:r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488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A442819-A4F0-3EA7-56E7-EC9208E3168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47663" y="1"/>
            <a:ext cx="8442325" cy="965914"/>
          </a:xfrm>
        </p:spPr>
        <p:txBody>
          <a:bodyPr>
            <a:normAutofit/>
          </a:bodyPr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FC6C15F-CF0C-E6CA-63F3-2DBDBA07C17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7663" y="1120462"/>
            <a:ext cx="3535362" cy="5048563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3EC12E2-AE27-16A8-3856-78B1DFC1AB4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3107BFCE-4CB9-4B64-8C0B-3AAC3763CD68}" type="datetime1">
              <a:rPr lang="en-US" smtClean="0"/>
              <a:t>8/26/2025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63339DE8-868C-CBE7-663C-3C9785353A8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nl-NL"/>
              <a:t> Springboard, UK economics (1270 - 1870) 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5B7BA18-7176-A11F-6BA7-9C4B299F447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833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44411-852A-45DB-9474-547015C1AF25}" type="datetime1">
              <a:rPr lang="en-US" smtClean="0"/>
              <a:t>8/26/2025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 Springboard, UK economics (1270 - 1870)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898F1-456E-48E9-A5F6-9D135025578C}" type="datetime1">
              <a:rPr lang="en-US" smtClean="0"/>
              <a:t>8/26/2025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 Springboard, UK economics (1270 - 1870) 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0B398-9602-4CEB-AAF2-40D2019AAD90}" type="datetime1">
              <a:rPr lang="en-US" smtClean="0"/>
              <a:t>8/26/2025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 Springboard, UK economics (1270 - 1870)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EC711-4288-47CC-B3EB-4ADEC68DB1C5}" type="datetime1">
              <a:rPr lang="en-US" smtClean="0"/>
              <a:t>8/26/2025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 Springboard, UK economics (1270 - 1870) 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10033-DABA-4272-AA69-D87912AF271B}" type="datetime1">
              <a:rPr lang="en-US" smtClean="0"/>
              <a:t>8/26/2025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 Springboard, UK economics (1270 - 1870)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901D7-0858-462F-949A-E8BFC41ACCA5}" type="datetime1">
              <a:rPr lang="en-US" smtClean="0"/>
              <a:t>8/26/2025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 Springboard, UK economics (1270 - 1870)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78283-2D45-47E3-92C2-CCE1E9F357F3}" type="datetime1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 Springboard, UK economics (1270 - 1870)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42741-046A-45F0-85CF-E0AA61AC1BF5}" type="datetime1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 Springboard, UK economics (1270 - 1870)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C85831-9772-4B43-811D-62E21A4B7AFF}" type="datetime1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nl-NL"/>
              <a:t> Springboard, UK economics (1270 - 1870)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0" r:id="rId4"/>
    <p:sldLayoutId id="214748366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hdr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saurabhshahane/fake-news-classification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683"/>
            <a:ext cx="9144000" cy="1143000"/>
          </a:xfrm>
        </p:spPr>
        <p:txBody>
          <a:bodyPr>
            <a:normAutofit/>
          </a:bodyPr>
          <a:lstStyle/>
          <a:p>
            <a:r>
              <a:rPr sz="2400" dirty="0"/>
              <a:t>Capstone T</a:t>
            </a:r>
            <a:r>
              <a:rPr lang="en-US" sz="2400" dirty="0"/>
              <a:t>hree</a:t>
            </a:r>
            <a:r>
              <a:rPr sz="2400" dirty="0"/>
              <a:t> </a:t>
            </a:r>
            <a:r>
              <a:rPr lang="en-US" sz="2400" dirty="0"/>
              <a:t>Presentation</a:t>
            </a:r>
            <a:endParaRPr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4684"/>
            <a:ext cx="8229600" cy="498148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4800" dirty="0">
                <a:sym typeface="Arial"/>
              </a:rPr>
              <a:t>Can we classify news articles as fake or real based on their textual content</a:t>
            </a:r>
            <a:r>
              <a:rPr lang="en-US" sz="4800" dirty="0"/>
              <a:t>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sz="2600" dirty="0"/>
              <a:t>Classifying </a:t>
            </a:r>
            <a:r>
              <a:rPr lang="en-US" sz="2600" dirty="0"/>
              <a:t>News</a:t>
            </a:r>
            <a:r>
              <a:rPr sz="2600" dirty="0"/>
              <a:t> Types from Using Machine Learning</a:t>
            </a:r>
            <a:r>
              <a:rPr lang="en-US" sz="2600" dirty="0"/>
              <a:t>, Deep Learning and Transformer.</a:t>
            </a:r>
            <a:endParaRPr sz="2600" dirty="0"/>
          </a:p>
          <a:p>
            <a:pPr marL="0" indent="0">
              <a:buNone/>
            </a:pPr>
            <a:r>
              <a:rPr sz="2600" dirty="0"/>
              <a:t>Benoit Loze </a:t>
            </a:r>
            <a:endParaRPr lang="en-US" sz="2600" dirty="0"/>
          </a:p>
          <a:p>
            <a:pPr marL="0" indent="0">
              <a:buNone/>
            </a:pPr>
            <a:r>
              <a:rPr lang="en-US" sz="2600" dirty="0"/>
              <a:t>26</a:t>
            </a:r>
            <a:r>
              <a:rPr sz="2600" dirty="0"/>
              <a:t>/0</a:t>
            </a:r>
            <a:r>
              <a:rPr lang="en-US" sz="2600" dirty="0"/>
              <a:t>8</a:t>
            </a:r>
            <a:r>
              <a:rPr sz="2600" dirty="0"/>
              <a:t>/2025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2B0BFF-888E-E1BB-A6CF-ACE31943D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CD129-C430-4EF4-9509-6A1D3E5CA4F8}" type="datetime1">
              <a:rPr lang="en-US" smtClean="0"/>
              <a:t>8/26/2025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4D86AB-4E0F-9BB9-BEB0-75F03EC30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Capstone Three Presentation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DF79BF-1096-59EA-4016-9D61FDF41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87CCA20-9A35-6E1C-F28E-B1B9771DD8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2192" y="1156381"/>
            <a:ext cx="8448674" cy="5048563"/>
          </a:xfrm>
        </p:spPr>
        <p:txBody>
          <a:bodyPr/>
          <a:lstStyle/>
          <a:p>
            <a:endParaRPr lang="en-US" dirty="0"/>
          </a:p>
          <a:p>
            <a:r>
              <a:rPr lang="en-US" sz="3600" b="1" dirty="0"/>
              <a:t>Goal: </a:t>
            </a:r>
            <a:r>
              <a:rPr lang="en-US" sz="3600" dirty="0"/>
              <a:t>distinguish between fake news and real news.</a:t>
            </a:r>
          </a:p>
          <a:p>
            <a:r>
              <a:rPr lang="en-US" sz="3600" b="1" dirty="0"/>
              <a:t>Success Criteria: </a:t>
            </a:r>
            <a:r>
              <a:rPr lang="en-US" sz="3600" dirty="0"/>
              <a:t>DSM</a:t>
            </a:r>
            <a:r>
              <a:rPr lang="en-US" sz="3600" b="1" dirty="0"/>
              <a:t> + </a:t>
            </a:r>
            <a:r>
              <a:rPr lang="en-US" sz="3600" dirty="0"/>
              <a:t>≥85% accuracy.</a:t>
            </a:r>
          </a:p>
          <a:p>
            <a:r>
              <a:rPr lang="en-US" sz="3600" b="1" dirty="0"/>
              <a:t>Scope: </a:t>
            </a:r>
            <a:r>
              <a:rPr lang="en-US" sz="3600" dirty="0"/>
              <a:t>supervised classification.</a:t>
            </a:r>
          </a:p>
          <a:p>
            <a:r>
              <a:rPr lang="en-US" sz="3600" b="1" dirty="0"/>
              <a:t>Constraints: </a:t>
            </a:r>
            <a:r>
              <a:rPr lang="en-US" sz="3600" dirty="0"/>
              <a:t>missing data, class imbalance, feature engineering.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0034D6-5C28-BA10-11A8-DE9734E2720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2E9ACEE2-4F32-43B7-99AD-B7E23ED6AB93}" type="datetime1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6FF1A1-D90D-DF11-6A65-68FA3C3D179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nl-NL" dirty="0"/>
          </a:p>
          <a:p>
            <a:r>
              <a:rPr lang="nl-NL" dirty="0"/>
              <a:t> </a:t>
            </a:r>
            <a:r>
              <a:rPr lang="en-US" dirty="0"/>
              <a:t>Capstone Three Presentation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D84A69-0F68-8DAD-3DCE-D9C9A221DCC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13381"/>
            <a:ext cx="9144000" cy="1143000"/>
          </a:xfrm>
        </p:spPr>
        <p:txBody>
          <a:bodyPr>
            <a:normAutofit/>
          </a:bodyPr>
          <a:lstStyle/>
          <a:p>
            <a:r>
              <a:rPr sz="2800" dirty="0"/>
              <a:t>Problem Statement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006E375-3F13-DA0A-5A82-C99795E45E0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5864" y="1914604"/>
            <a:ext cx="3633274" cy="3423514"/>
          </a:xfrm>
        </p:spPr>
        <p:txBody>
          <a:bodyPr>
            <a:normAutofit/>
          </a:bodyPr>
          <a:lstStyle/>
          <a:p>
            <a:r>
              <a:rPr lang="en-US" dirty="0"/>
              <a:t>WELFake_Dataset.csv.</a:t>
            </a:r>
          </a:p>
          <a:p>
            <a:r>
              <a:rPr lang="en-US" dirty="0"/>
              <a:t>72,134 entries.</a:t>
            </a:r>
          </a:p>
          <a:p>
            <a:r>
              <a:rPr lang="en-US" dirty="0"/>
              <a:t>Balanced classes.</a:t>
            </a:r>
          </a:p>
          <a:p>
            <a:r>
              <a:rPr lang="en-US" dirty="0"/>
              <a:t>Title, text, label features.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77DCC2-E5BC-60BB-1E0D-B4F4A533A88B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CD4093C1-62DC-480D-B699-21A56204D547}" type="datetime1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073C6E-E093-B31C-F957-C4C3BB50639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nl-NL" dirty="0"/>
          </a:p>
          <a:p>
            <a:r>
              <a:rPr lang="nl-NL" dirty="0"/>
              <a:t> </a:t>
            </a:r>
            <a:r>
              <a:rPr lang="en-US" dirty="0"/>
              <a:t>Capstone Three Presentation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BF5A73-B4DC-7A05-5D93-84EB7325E86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1"/>
            <a:ext cx="9144000" cy="1143000"/>
          </a:xfrm>
        </p:spPr>
        <p:txBody>
          <a:bodyPr>
            <a:normAutofit/>
          </a:bodyPr>
          <a:lstStyle/>
          <a:p>
            <a:r>
              <a:rPr lang="en-US" sz="2800" dirty="0"/>
              <a:t>Dataset Description</a:t>
            </a:r>
            <a:endParaRPr sz="2800" dirty="0"/>
          </a:p>
        </p:txBody>
      </p:sp>
      <p:pic>
        <p:nvPicPr>
          <p:cNvPr id="10" name="Picture 9" descr="A pile of newspapers with fake news&#10;&#10;AI-generated content may be incorrect.">
            <a:extLst>
              <a:ext uri="{FF2B5EF4-FFF2-40B4-BE49-F238E27FC236}">
                <a16:creationId xmlns:a16="http://schemas.microsoft.com/office/drawing/2014/main" id="{9E6247A4-7104-FBF8-0979-1C2F435A12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391" r="9361"/>
          <a:stretch>
            <a:fillRect/>
          </a:stretch>
        </p:blipFill>
        <p:spPr>
          <a:xfrm>
            <a:off x="4454682" y="1914604"/>
            <a:ext cx="4232118" cy="342351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DE1CA0A-F763-4017-E6BA-DEEC2B946BF8}"/>
              </a:ext>
            </a:extLst>
          </p:cNvPr>
          <p:cNvSpPr txBox="1"/>
          <p:nvPr/>
        </p:nvSpPr>
        <p:spPr>
          <a:xfrm>
            <a:off x="340156" y="5762372"/>
            <a:ext cx="84636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Available at: </a:t>
            </a:r>
            <a:r>
              <a:rPr lang="en-US" dirty="0">
                <a:hlinkClick r:id="rId3"/>
              </a:rPr>
              <a:t>https://www.kaggle.com/datasets/saurabhshahane/fake-news-classification</a:t>
            </a:r>
            <a:r>
              <a:rPr lang="en-US" dirty="0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8085BD1-71E8-11EA-9644-BFCEE42B481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7662" y="1143000"/>
            <a:ext cx="8339137" cy="5026025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sz="3600" dirty="0"/>
              <a:t>Missing values removal (&lt;5% nulls). </a:t>
            </a:r>
          </a:p>
          <a:p>
            <a:r>
              <a:rPr lang="en-US" sz="3600" dirty="0"/>
              <a:t>Identification &amp; removal of duplicates.</a:t>
            </a:r>
          </a:p>
          <a:p>
            <a:r>
              <a:rPr lang="en-US" sz="3600" dirty="0"/>
              <a:t>Text normalization: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Tokenization.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Punctuation, digits and stop words removal.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Final lemmatization &amp; character lowering.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9651B0-93A9-9A21-D6C2-68DD49F0D62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16F0308F-B896-4163-AC16-9D6103A00B9F}" type="datetime1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85DE23-1FFB-D1CF-7312-C91385FABF2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Capstone Three Presentation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01663E-0CF8-1FD1-5A85-97CE4862FDA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</p:spPr>
        <p:txBody>
          <a:bodyPr>
            <a:normAutofit/>
          </a:bodyPr>
          <a:lstStyle/>
          <a:p>
            <a:r>
              <a:rPr sz="2800" dirty="0"/>
              <a:t>Data Wrangling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6215FE-05D4-369E-F428-2443CB96F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4985578-A1A6-87A3-377B-AB33A0C777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08674" y="1490349"/>
            <a:ext cx="4224337" cy="4456689"/>
          </a:xfrm>
        </p:spPr>
        <p:txBody>
          <a:bodyPr>
            <a:normAutofit fontScale="77500" lnSpcReduction="20000"/>
          </a:bodyPr>
          <a:lstStyle/>
          <a:p>
            <a:r>
              <a:rPr lang="en-US" sz="4100" b="1" dirty="0"/>
              <a:t>Strong</a:t>
            </a:r>
            <a:r>
              <a:rPr lang="en-US" sz="4100" dirty="0"/>
              <a:t> discriminators:</a:t>
            </a:r>
          </a:p>
          <a:p>
            <a:endParaRPr lang="en-US" sz="3100" dirty="0"/>
          </a:p>
          <a:p>
            <a:r>
              <a:rPr lang="en-US" sz="3100" dirty="0"/>
              <a:t>POS proper noun/other noun ratio title. </a:t>
            </a:r>
          </a:p>
          <a:p>
            <a:r>
              <a:rPr lang="en-US" sz="3100" dirty="0"/>
              <a:t>NER ratio title. </a:t>
            </a:r>
          </a:p>
          <a:p>
            <a:r>
              <a:rPr lang="en-US" sz="3100" dirty="0"/>
              <a:t>Polarity title. </a:t>
            </a:r>
          </a:p>
          <a:p>
            <a:r>
              <a:rPr lang="en-US" sz="3100" dirty="0"/>
              <a:t>Polarity text. </a:t>
            </a:r>
          </a:p>
          <a:p>
            <a:r>
              <a:rPr lang="en-US" sz="3100" dirty="0"/>
              <a:t>Subjectivity title. </a:t>
            </a:r>
          </a:p>
          <a:p>
            <a:r>
              <a:rPr lang="en-US" sz="3100" dirty="0"/>
              <a:t>Subjectivity text. </a:t>
            </a:r>
          </a:p>
          <a:p>
            <a:r>
              <a:rPr lang="en-US" sz="3100" dirty="0"/>
              <a:t>Readability title. </a:t>
            </a:r>
          </a:p>
          <a:p>
            <a:r>
              <a:rPr lang="en-US" sz="3100" dirty="0"/>
              <a:t>Readability text.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888F3F-ADCE-B1E8-A0BB-3067F4DD853B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CD4093C1-62DC-480D-B699-21A56204D547}" type="datetime1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C0181E-ED39-57A8-E93D-811DFC6289C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nl-NL" dirty="0"/>
          </a:p>
          <a:p>
            <a:r>
              <a:rPr lang="nl-NL" dirty="0"/>
              <a:t> </a:t>
            </a:r>
            <a:r>
              <a:rPr lang="en-US" dirty="0"/>
              <a:t>Capstone Three Presentation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B824CD-4B58-7952-EB8F-39CEC00880E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E0CCCD-10B7-8D59-CF54-1D27FECF98B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1"/>
            <a:ext cx="9144000" cy="1143000"/>
          </a:xfrm>
        </p:spPr>
        <p:txBody>
          <a:bodyPr>
            <a:normAutofit/>
          </a:bodyPr>
          <a:lstStyle/>
          <a:p>
            <a:r>
              <a:rPr lang="en-US" sz="2800" dirty="0"/>
              <a:t>Exploratory Data Analysis – EDA.</a:t>
            </a:r>
            <a:endParaRPr sz="2800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01C9E5CB-86BB-21BF-E411-3144D3AD8F72}"/>
              </a:ext>
            </a:extLst>
          </p:cNvPr>
          <p:cNvSpPr txBox="1">
            <a:spLocks/>
          </p:cNvSpPr>
          <p:nvPr/>
        </p:nvSpPr>
        <p:spPr>
          <a:xfrm>
            <a:off x="4836375" y="1411603"/>
            <a:ext cx="4098951" cy="445668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500" b="1" dirty="0"/>
              <a:t>Weak</a:t>
            </a:r>
            <a:r>
              <a:rPr lang="en-US" sz="3500" dirty="0"/>
              <a:t> discriminators:</a:t>
            </a:r>
          </a:p>
          <a:p>
            <a:endParaRPr lang="en-US" sz="2600" dirty="0"/>
          </a:p>
          <a:p>
            <a:r>
              <a:rPr lang="en-US" sz="2600" dirty="0"/>
              <a:t>Length of text. </a:t>
            </a:r>
          </a:p>
          <a:p>
            <a:r>
              <a:rPr lang="en-US" sz="2600" dirty="0"/>
              <a:t>Vocabulary richness. </a:t>
            </a:r>
          </a:p>
          <a:p>
            <a:r>
              <a:rPr lang="en-US" sz="2600" dirty="0"/>
              <a:t>Terms frequency. </a:t>
            </a:r>
          </a:p>
          <a:p>
            <a:r>
              <a:rPr lang="en-US" sz="2600" dirty="0"/>
              <a:t>POS proper noun/other noun ratio text. </a:t>
            </a:r>
          </a:p>
          <a:p>
            <a:r>
              <a:rPr lang="en-US" sz="2600" dirty="0"/>
              <a:t>NER ratio text. </a:t>
            </a:r>
          </a:p>
          <a:p>
            <a:r>
              <a:rPr lang="en-US" sz="2600" dirty="0"/>
              <a:t>NER frequency. </a:t>
            </a:r>
          </a:p>
          <a:p>
            <a:endParaRPr lang="en-US" dirty="0"/>
          </a:p>
          <a:p>
            <a:pPr marL="0" indent="0">
              <a:buFont typeface="Arial"/>
              <a:buNone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3209429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73983-B5D5-97A1-0BAC-D0B9EDFEC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858331C-A19E-1276-6E76-D59E26CA66E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7662" y="1767987"/>
            <a:ext cx="3280676" cy="4456689"/>
          </a:xfrm>
        </p:spPr>
        <p:txBody>
          <a:bodyPr>
            <a:normAutofit/>
          </a:bodyPr>
          <a:lstStyle/>
          <a:p>
            <a:r>
              <a:rPr lang="en-US" b="1" dirty="0"/>
              <a:t>POS – proper nouns &amp; other nouns ratio:</a:t>
            </a:r>
          </a:p>
          <a:p>
            <a:r>
              <a:rPr lang="en-US" dirty="0"/>
              <a:t>Fake news title = generic nouns.</a:t>
            </a:r>
          </a:p>
          <a:p>
            <a:r>
              <a:rPr lang="en-US" dirty="0"/>
              <a:t>Real news title = proper nouns.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55B4C-8E0D-162C-AC1C-A95376CF2F6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CD4093C1-62DC-480D-B699-21A56204D547}" type="datetime1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64E76-93B9-96FC-B8F4-2E7EB56FFB1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nl-NL" dirty="0"/>
          </a:p>
          <a:p>
            <a:r>
              <a:rPr lang="nl-NL" dirty="0"/>
              <a:t> </a:t>
            </a:r>
            <a:r>
              <a:rPr lang="en-US" dirty="0"/>
              <a:t>Capstone Three Presentation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EBBB6-7873-7159-5645-0A4ED729BA0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C3B720-245D-316E-40C3-00BCFBC2B9C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1"/>
            <a:ext cx="9144000" cy="1143000"/>
          </a:xfrm>
        </p:spPr>
        <p:txBody>
          <a:bodyPr>
            <a:normAutofit/>
          </a:bodyPr>
          <a:lstStyle/>
          <a:p>
            <a:r>
              <a:rPr lang="en-US" sz="2800" dirty="0"/>
              <a:t>Exploratory Data Analysis – EDA.</a:t>
            </a:r>
            <a:endParaRPr sz="2800" dirty="0"/>
          </a:p>
        </p:txBody>
      </p:sp>
      <p:pic>
        <p:nvPicPr>
          <p:cNvPr id="8" name="Picture 7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938FCB2A-71A1-41B0-36F8-8830EF7BC8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6410" y="2224401"/>
            <a:ext cx="4949928" cy="2952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0089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59E8D-963F-DD97-BD88-FF5F13CD9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68B6751-0A2D-1E70-24AC-19971694E3F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9141" y="2053281"/>
            <a:ext cx="3280676" cy="3682418"/>
          </a:xfrm>
        </p:spPr>
        <p:txBody>
          <a:bodyPr>
            <a:normAutofit/>
          </a:bodyPr>
          <a:lstStyle/>
          <a:p>
            <a:r>
              <a:rPr lang="en-US" b="1" dirty="0"/>
              <a:t>NER – Named Entities Recognition:</a:t>
            </a:r>
          </a:p>
          <a:p>
            <a:r>
              <a:rPr lang="en-US" dirty="0"/>
              <a:t>Fake news title = more named entities.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5763DD-85E6-3C8E-1925-3DBFE919587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CD4093C1-62DC-480D-B699-21A56204D547}" type="datetime1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454632-BC8B-B19A-AF35-B91EC4CD36E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nl-NL" dirty="0"/>
          </a:p>
          <a:p>
            <a:r>
              <a:rPr lang="nl-NL" dirty="0"/>
              <a:t> </a:t>
            </a:r>
            <a:r>
              <a:rPr lang="en-US" dirty="0"/>
              <a:t>Capstone Three Presentation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7A857C-C69D-01F1-9493-319F36FF3A9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314A20-F8BC-EA64-08CA-DEA38C88D80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1"/>
            <a:ext cx="9144000" cy="1143000"/>
          </a:xfrm>
        </p:spPr>
        <p:txBody>
          <a:bodyPr>
            <a:normAutofit/>
          </a:bodyPr>
          <a:lstStyle/>
          <a:p>
            <a:r>
              <a:rPr lang="en-US" sz="2800" dirty="0"/>
              <a:t>Exploratory Data Analysis – EDA.</a:t>
            </a:r>
            <a:endParaRPr sz="2800" dirty="0"/>
          </a:p>
        </p:txBody>
      </p:sp>
      <p:pic>
        <p:nvPicPr>
          <p:cNvPr id="9" name="Picture 8" descr="A blue bar graph with text&#10;&#10;AI-generated content may be incorrect.">
            <a:extLst>
              <a:ext uri="{FF2B5EF4-FFF2-40B4-BE49-F238E27FC236}">
                <a16:creationId xmlns:a16="http://schemas.microsoft.com/office/drawing/2014/main" id="{BFF63236-5E54-5486-B7AB-14A0DCC58A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8120" y="1882738"/>
            <a:ext cx="4938680" cy="3682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2219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D6B1D-F9C1-28B5-0A86-E4782604A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F9A97D0-2A83-7528-0354-CF34AED4567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7662" y="1143001"/>
            <a:ext cx="3280676" cy="5081675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Polarity &amp; subjectivity:</a:t>
            </a:r>
          </a:p>
          <a:p>
            <a:r>
              <a:rPr lang="en-US" dirty="0"/>
              <a:t>Fake news title = </a:t>
            </a:r>
            <a:r>
              <a:rPr lang="en-US" b="1" dirty="0"/>
              <a:t>more</a:t>
            </a:r>
            <a:r>
              <a:rPr lang="en-US" dirty="0"/>
              <a:t> polarity.</a:t>
            </a:r>
          </a:p>
          <a:p>
            <a:r>
              <a:rPr lang="en-US" dirty="0"/>
              <a:t>Real news title = </a:t>
            </a:r>
            <a:r>
              <a:rPr lang="en-US" b="1" dirty="0"/>
              <a:t>more</a:t>
            </a:r>
            <a:r>
              <a:rPr lang="en-US" dirty="0"/>
              <a:t> subjectivity.</a:t>
            </a:r>
          </a:p>
          <a:p>
            <a:r>
              <a:rPr lang="en-US" dirty="0"/>
              <a:t>Real news text = </a:t>
            </a:r>
            <a:r>
              <a:rPr lang="en-US" b="1" dirty="0"/>
              <a:t>more</a:t>
            </a:r>
            <a:r>
              <a:rPr lang="en-US" dirty="0"/>
              <a:t> subjectivity.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E23BC7-2DD6-EACA-1170-B7A3F7B76B7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CD4093C1-62DC-480D-B699-21A56204D547}" type="datetime1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85862F-76BD-957F-0985-38322B5E9D2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nl-NL" dirty="0"/>
          </a:p>
          <a:p>
            <a:r>
              <a:rPr lang="nl-NL" dirty="0"/>
              <a:t> </a:t>
            </a:r>
            <a:r>
              <a:rPr lang="en-US" dirty="0"/>
              <a:t>Capstone Three Presentation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B4D85E-3229-868B-1232-015EF7406CA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3C03B5-1C3F-94EC-43CA-654160372F4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1"/>
            <a:ext cx="9144000" cy="1143000"/>
          </a:xfrm>
        </p:spPr>
        <p:txBody>
          <a:bodyPr>
            <a:normAutofit/>
          </a:bodyPr>
          <a:lstStyle/>
          <a:p>
            <a:r>
              <a:rPr lang="en-US" sz="2800" dirty="0"/>
              <a:t>Exploratory Data Analysis – EDA.</a:t>
            </a:r>
            <a:endParaRPr sz="2800" dirty="0"/>
          </a:p>
        </p:txBody>
      </p:sp>
      <p:pic>
        <p:nvPicPr>
          <p:cNvPr id="9" name="Picture 8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0D8647C3-CB6D-03A6-5C41-8FBE7EF4CE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3530" y="2016158"/>
            <a:ext cx="4932808" cy="2942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6022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8D1E5-3ECE-D17F-EECD-28EDD2A7D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79014D4-A5EB-E2D3-8C26-E6E81A3D270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8030" y="2072616"/>
            <a:ext cx="3280676" cy="4456689"/>
          </a:xfrm>
        </p:spPr>
        <p:txBody>
          <a:bodyPr>
            <a:normAutofit/>
          </a:bodyPr>
          <a:lstStyle/>
          <a:p>
            <a:r>
              <a:rPr lang="en-US" b="1" dirty="0"/>
              <a:t>Readability:</a:t>
            </a:r>
          </a:p>
          <a:p>
            <a:r>
              <a:rPr lang="en-US" dirty="0"/>
              <a:t>Fake news title = </a:t>
            </a:r>
            <a:r>
              <a:rPr lang="en-US" b="1" dirty="0"/>
              <a:t>easier</a:t>
            </a:r>
            <a:r>
              <a:rPr lang="en-US" dirty="0"/>
              <a:t> to read.</a:t>
            </a:r>
          </a:p>
          <a:p>
            <a:r>
              <a:rPr lang="en-US" dirty="0"/>
              <a:t>Real news text = </a:t>
            </a:r>
            <a:r>
              <a:rPr lang="en-US" b="1" dirty="0"/>
              <a:t>easier</a:t>
            </a:r>
            <a:r>
              <a:rPr lang="en-US" dirty="0"/>
              <a:t> to read.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BA5059-E468-CD69-8A23-8A7A9C49FC6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CD4093C1-62DC-480D-B699-21A56204D547}" type="datetime1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D14391-8561-D0AE-27AA-058C8B44BCB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nl-NL" dirty="0"/>
          </a:p>
          <a:p>
            <a:r>
              <a:rPr lang="nl-NL" dirty="0"/>
              <a:t> </a:t>
            </a:r>
            <a:r>
              <a:rPr lang="en-US" dirty="0"/>
              <a:t>Capstone Three Presentation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CDFDB4-2787-8CD3-ABAD-BC281DAB63C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9155E3-DC56-A57A-AC45-C5C6900D8ED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1"/>
            <a:ext cx="9144000" cy="1143000"/>
          </a:xfrm>
        </p:spPr>
        <p:txBody>
          <a:bodyPr>
            <a:normAutofit/>
          </a:bodyPr>
          <a:lstStyle/>
          <a:p>
            <a:r>
              <a:rPr lang="en-US" sz="2800" dirty="0"/>
              <a:t>Exploratory Data Analysis – EDA.</a:t>
            </a:r>
            <a:endParaRPr sz="2800" dirty="0"/>
          </a:p>
        </p:txBody>
      </p:sp>
      <p:pic>
        <p:nvPicPr>
          <p:cNvPr id="9" name="Picture 8" descr="A graph of different colored squares&#10;&#10;AI-generated content may be incorrect.">
            <a:extLst>
              <a:ext uri="{FF2B5EF4-FFF2-40B4-BE49-F238E27FC236}">
                <a16:creationId xmlns:a16="http://schemas.microsoft.com/office/drawing/2014/main" id="{7F9A704A-41D0-FDA7-2D76-D4B1BB14A0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1320" y="1143001"/>
            <a:ext cx="5024650" cy="2489463"/>
          </a:xfrm>
          <a:prstGeom prst="rect">
            <a:avLst/>
          </a:prstGeom>
        </p:spPr>
      </p:pic>
      <p:pic>
        <p:nvPicPr>
          <p:cNvPr id="11" name="Picture 10" descr="A graph of different colored squares&#10;&#10;AI-generated content may be incorrect.">
            <a:extLst>
              <a:ext uri="{FF2B5EF4-FFF2-40B4-BE49-F238E27FC236}">
                <a16:creationId xmlns:a16="http://schemas.microsoft.com/office/drawing/2014/main" id="{11BA136E-7DD5-BBF8-A096-A6E4FC1E2A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1320" y="3764138"/>
            <a:ext cx="5024650" cy="2489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6966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67D0594-5474-6108-E99C-300CDC7B7F4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7663" y="1143000"/>
            <a:ext cx="8452578" cy="50260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800" b="1" dirty="0"/>
              <a:t>4 </a:t>
            </a:r>
            <a:r>
              <a:rPr lang="en-US" sz="3600" dirty="0"/>
              <a:t>models:</a:t>
            </a:r>
          </a:p>
          <a:p>
            <a:pPr marL="0" indent="0">
              <a:buNone/>
            </a:pP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600" dirty="0"/>
              <a:t>Machine learning – random forest.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600" dirty="0"/>
              <a:t>Machine learning – logistic regression.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600" dirty="0"/>
              <a:t>Deep learning – bi-LSTM.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600" dirty="0"/>
              <a:t>Transformer – </a:t>
            </a:r>
            <a:r>
              <a:rPr lang="en-US" sz="3600" dirty="0" err="1"/>
              <a:t>DistilBERT</a:t>
            </a:r>
            <a:r>
              <a:rPr lang="en-US" sz="3600" dirty="0"/>
              <a:t>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CEF98-85FA-21D6-0302-3DB85D17704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F907DC34-38D9-4CDD-90E7-8D03015BE192}" type="datetime1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17A618-BF00-489D-8F57-E21D84EB55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nl-NL" dirty="0"/>
              <a:t> </a:t>
            </a:r>
          </a:p>
          <a:p>
            <a:r>
              <a:rPr lang="en-US" dirty="0"/>
              <a:t>Capstone Three Presentation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3307D8-EEA8-84C2-CECA-9C490218CC8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</p:spPr>
        <p:txBody>
          <a:bodyPr>
            <a:normAutofit/>
          </a:bodyPr>
          <a:lstStyle/>
          <a:p>
            <a:r>
              <a:rPr sz="2800" dirty="0"/>
              <a:t>Modeling Approach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2066B-E4A8-BBA0-9C10-6CBE6FAC5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EFC3D40-AC68-7029-6BDC-F82FF6B24CB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6032" y="1143000"/>
            <a:ext cx="8544209" cy="502602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3600" b="1" dirty="0"/>
              <a:t>To avoid data leakage = train/test/split first </a:t>
            </a:r>
            <a:r>
              <a:rPr lang="en-US" sz="3600" dirty="0"/>
              <a:t>:</a:t>
            </a:r>
          </a:p>
          <a:p>
            <a:pPr marL="0" indent="0">
              <a:buNone/>
            </a:pPr>
            <a:endParaRPr lang="en-US" sz="14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600" b="1" dirty="0"/>
              <a:t>ML models: 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3200" dirty="0"/>
              <a:t>TFIDF vectorization.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3200" dirty="0"/>
              <a:t>Bayesian optimization.</a:t>
            </a:r>
          </a:p>
          <a:p>
            <a:pPr lvl="2">
              <a:buFont typeface="Wingdings" panose="05000000000000000000" pitchFamily="2" charset="2"/>
              <a:buChar char="§"/>
            </a:pPr>
            <a:endParaRPr lang="en-US" sz="13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600" b="1" dirty="0"/>
              <a:t>Deep learning: 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3200" dirty="0"/>
              <a:t>title &amp; text combined.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3200" dirty="0"/>
              <a:t>Learning embedding from scratch.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3200" dirty="0"/>
              <a:t>Overfitting counter measures.</a:t>
            </a:r>
          </a:p>
          <a:p>
            <a:pPr lvl="2">
              <a:buFont typeface="Wingdings" panose="05000000000000000000" pitchFamily="2" charset="2"/>
              <a:buChar char="§"/>
            </a:pPr>
            <a:endParaRPr lang="en-US" sz="14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600" b="1" dirty="0"/>
              <a:t>Transformer: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3200" dirty="0"/>
              <a:t>Title &amp; text combined.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3200" dirty="0"/>
              <a:t>Tokenization and encoding.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F7330F-810F-9861-E296-8EBFDDF4B94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F907DC34-38D9-4CDD-90E7-8D03015BE192}" type="datetime1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E9E717-CE8C-59F9-E7F7-F1976FF1923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nl-NL" dirty="0"/>
              <a:t> </a:t>
            </a:r>
          </a:p>
          <a:p>
            <a:r>
              <a:rPr lang="en-US" dirty="0"/>
              <a:t>Capstone Three Presentation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64CD25-37A2-9F9F-E549-6D53B82A2B2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4F89F3-2650-0E92-E963-E2E10A2ED82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</p:spPr>
        <p:txBody>
          <a:bodyPr>
            <a:normAutofit/>
          </a:bodyPr>
          <a:lstStyle/>
          <a:p>
            <a:r>
              <a:rPr sz="2800" dirty="0"/>
              <a:t>Modeling Approach</a:t>
            </a:r>
          </a:p>
        </p:txBody>
      </p:sp>
    </p:spTree>
    <p:extLst>
      <p:ext uri="{BB962C8B-B14F-4D97-AF65-F5344CB8AC3E}">
        <p14:creationId xmlns:p14="http://schemas.microsoft.com/office/powerpoint/2010/main" val="20974471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E03E8-13EE-2A38-ED82-15B647EEF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3784A4-9A87-AF37-D21A-4C56C01BCFF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F907DC34-38D9-4CDD-90E7-8D03015BE192}" type="datetime1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2BFCB1-7481-AB07-62CB-FFF152AF273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nl-NL" dirty="0"/>
              <a:t> </a:t>
            </a:r>
          </a:p>
          <a:p>
            <a:r>
              <a:rPr lang="en-US" dirty="0"/>
              <a:t>Capstone Three Presentation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4ADF1E-18C2-F81D-5077-6EF0041B6F5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4A7F0F-09FC-C867-81ED-6958E4CFBC6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</p:spPr>
        <p:txBody>
          <a:bodyPr>
            <a:normAutofit/>
          </a:bodyPr>
          <a:lstStyle/>
          <a:p>
            <a:r>
              <a:rPr sz="2800" dirty="0"/>
              <a:t>Modeling Approach</a:t>
            </a:r>
          </a:p>
        </p:txBody>
      </p:sp>
      <p:pic>
        <p:nvPicPr>
          <p:cNvPr id="8" name="Picture 7" descr="A blue and white graph&#10;&#10;AI-generated content may be incorrect.">
            <a:extLst>
              <a:ext uri="{FF2B5EF4-FFF2-40B4-BE49-F238E27FC236}">
                <a16:creationId xmlns:a16="http://schemas.microsoft.com/office/drawing/2014/main" id="{59702820-ACEE-8CCE-6F87-50F4B469018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7636" b="5383"/>
          <a:stretch>
            <a:fillRect/>
          </a:stretch>
        </p:blipFill>
        <p:spPr>
          <a:xfrm>
            <a:off x="923009" y="927989"/>
            <a:ext cx="3208244" cy="2568678"/>
          </a:xfrm>
          <a:prstGeom prst="rect">
            <a:avLst/>
          </a:prstGeom>
        </p:spPr>
      </p:pic>
      <p:pic>
        <p:nvPicPr>
          <p:cNvPr id="12" name="Picture 11" descr="A blue squares with white numbers&#10;&#10;AI-generated content may be incorrect.">
            <a:extLst>
              <a:ext uri="{FF2B5EF4-FFF2-40B4-BE49-F238E27FC236}">
                <a16:creationId xmlns:a16="http://schemas.microsoft.com/office/drawing/2014/main" id="{A5463515-068C-23FB-2B78-D02555F2E2E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789"/>
          <a:stretch>
            <a:fillRect/>
          </a:stretch>
        </p:blipFill>
        <p:spPr>
          <a:xfrm>
            <a:off x="4740859" y="927989"/>
            <a:ext cx="3208244" cy="2568678"/>
          </a:xfrm>
          <a:prstGeom prst="rect">
            <a:avLst/>
          </a:prstGeom>
        </p:spPr>
      </p:pic>
      <p:pic>
        <p:nvPicPr>
          <p:cNvPr id="16" name="Picture 15" descr="A graph of a graph showing the value of a train&#10;&#10;AI-generated content may be incorrect.">
            <a:extLst>
              <a:ext uri="{FF2B5EF4-FFF2-40B4-BE49-F238E27FC236}">
                <a16:creationId xmlns:a16="http://schemas.microsoft.com/office/drawing/2014/main" id="{37D58AEE-4755-AAB7-83FB-E35A54AB2C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009" y="3727686"/>
            <a:ext cx="3208244" cy="2379625"/>
          </a:xfrm>
          <a:prstGeom prst="rect">
            <a:avLst/>
          </a:prstGeom>
        </p:spPr>
      </p:pic>
      <p:pic>
        <p:nvPicPr>
          <p:cNvPr id="18" name="Picture 17" descr="A graph of a graph with a line&#10;&#10;AI-generated content may be incorrect.">
            <a:extLst>
              <a:ext uri="{FF2B5EF4-FFF2-40B4-BE49-F238E27FC236}">
                <a16:creationId xmlns:a16="http://schemas.microsoft.com/office/drawing/2014/main" id="{DEF280E7-E3D4-1F97-0D07-5B77108EC7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5697" y="3745706"/>
            <a:ext cx="3253406" cy="2263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4720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3B942-A441-FBA0-0DC0-F2F8D387E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01A696B-8039-D579-BCA9-E02DE0877C0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7663" y="1143000"/>
            <a:ext cx="8452578" cy="50260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800" b="1" dirty="0"/>
              <a:t>F1 </a:t>
            </a:r>
            <a:r>
              <a:rPr lang="en-US" sz="3600" dirty="0"/>
              <a:t>scores: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600" b="1" dirty="0"/>
              <a:t>Random forest </a:t>
            </a:r>
            <a:r>
              <a:rPr lang="en-US" sz="3600" dirty="0"/>
              <a:t>= 92 %.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600" b="1" dirty="0"/>
              <a:t>Logistic regression </a:t>
            </a:r>
            <a:r>
              <a:rPr lang="en-US" sz="3600" dirty="0"/>
              <a:t>= 96 %.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600" b="1" dirty="0"/>
              <a:t>Deep learning </a:t>
            </a:r>
            <a:r>
              <a:rPr lang="en-US" sz="3600" dirty="0"/>
              <a:t>= 97.40 %.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600" b="1" dirty="0"/>
              <a:t>Transformer</a:t>
            </a:r>
            <a:r>
              <a:rPr lang="en-US" sz="3600" dirty="0"/>
              <a:t> = </a:t>
            </a:r>
            <a:r>
              <a:rPr lang="en-US" sz="3600" b="1" dirty="0"/>
              <a:t>99.50 % </a:t>
            </a:r>
            <a:r>
              <a:rPr lang="en-US" sz="3600" dirty="0"/>
              <a:t>= </a:t>
            </a:r>
            <a:r>
              <a:rPr lang="en-US" sz="3600" b="1" dirty="0"/>
              <a:t>SELECTED</a:t>
            </a:r>
            <a:r>
              <a:rPr lang="en-US" sz="3600" dirty="0"/>
              <a:t>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C01E34-ABA5-61C7-66C6-98002F6C71D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F907DC34-38D9-4CDD-90E7-8D03015BE192}" type="datetime1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507B04-F513-F87F-56F6-B27631456AB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nl-NL" dirty="0"/>
              <a:t> </a:t>
            </a:r>
          </a:p>
          <a:p>
            <a:r>
              <a:rPr lang="en-US" dirty="0"/>
              <a:t>Capstone Three Presentation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349260-FA74-FF18-B526-DE6C3E4AB5A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4B4CA8-530D-76E5-CF39-A003F1E1DF6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</p:spPr>
        <p:txBody>
          <a:bodyPr>
            <a:normAutofit/>
          </a:bodyPr>
          <a:lstStyle/>
          <a:p>
            <a:r>
              <a:rPr sz="2800" dirty="0"/>
              <a:t>Modeling Approach</a:t>
            </a:r>
          </a:p>
        </p:txBody>
      </p:sp>
    </p:spTree>
    <p:extLst>
      <p:ext uri="{BB962C8B-B14F-4D97-AF65-F5344CB8AC3E}">
        <p14:creationId xmlns:p14="http://schemas.microsoft.com/office/powerpoint/2010/main" val="30564227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A0761A0-64DD-AEE5-0124-6917634AB2E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7662" y="1143980"/>
            <a:ext cx="8339137" cy="5025045"/>
          </a:xfrm>
        </p:spPr>
        <p:txBody>
          <a:bodyPr>
            <a:normAutofit/>
          </a:bodyPr>
          <a:lstStyle/>
          <a:p>
            <a:endParaRPr lang="en-US" sz="1400" dirty="0"/>
          </a:p>
          <a:p>
            <a:r>
              <a:rPr lang="en-US" sz="4000" dirty="0"/>
              <a:t>Model evaluation on additional datasets = </a:t>
            </a:r>
            <a:r>
              <a:rPr lang="en-US" sz="4000" b="1" dirty="0"/>
              <a:t>robustness</a:t>
            </a:r>
            <a:r>
              <a:rPr lang="en-US" sz="4000" dirty="0"/>
              <a:t>.</a:t>
            </a:r>
          </a:p>
          <a:p>
            <a:r>
              <a:rPr lang="en-US" sz="4000" dirty="0"/>
              <a:t>“Strong discriminators” &amp; </a:t>
            </a:r>
            <a:r>
              <a:rPr lang="en-US" sz="4000" b="1" dirty="0"/>
              <a:t>additional</a:t>
            </a:r>
            <a:r>
              <a:rPr lang="en-US" sz="4000" dirty="0"/>
              <a:t> feature engineering.</a:t>
            </a:r>
          </a:p>
          <a:p>
            <a:r>
              <a:rPr lang="en-US" sz="4000" dirty="0"/>
              <a:t>Slight target class </a:t>
            </a:r>
            <a:r>
              <a:rPr lang="en-US" sz="4000" b="1" dirty="0"/>
              <a:t>imbalance</a:t>
            </a:r>
            <a:r>
              <a:rPr lang="en-US" sz="4000" dirty="0"/>
              <a:t> &amp; “</a:t>
            </a:r>
            <a:r>
              <a:rPr lang="en-US" sz="4000" dirty="0" err="1"/>
              <a:t>class_weight</a:t>
            </a:r>
            <a:r>
              <a:rPr lang="en-US" sz="4000" dirty="0"/>
              <a:t>” parameter.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5D7A29-7450-99CF-1A86-D27DD10D03BB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E39E84B8-5116-4B7B-8120-11A3FB9C2B42}" type="datetime1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EBEEF6-EEB9-24F5-56BD-32A636DA7C2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nl-NL" dirty="0"/>
              <a:t> </a:t>
            </a:r>
          </a:p>
          <a:p>
            <a:r>
              <a:rPr lang="en-US" dirty="0"/>
              <a:t>Capstone Three Presentation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0B67AE-0881-059E-0B55-C0726767FC7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980"/>
            <a:ext cx="9144000" cy="1143000"/>
          </a:xfrm>
        </p:spPr>
        <p:txBody>
          <a:bodyPr>
            <a:normAutofit/>
          </a:bodyPr>
          <a:lstStyle/>
          <a:p>
            <a:r>
              <a:rPr lang="en-US" sz="2800" dirty="0"/>
              <a:t>Recommendations &amp; Future Work</a:t>
            </a:r>
            <a:endParaRPr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542</Words>
  <Application>Microsoft Office PowerPoint</Application>
  <PresentationFormat>On-screen Show (4:3)</PresentationFormat>
  <Paragraphs>152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Arial</vt:lpstr>
      <vt:lpstr>Calibri</vt:lpstr>
      <vt:lpstr>Wingdings</vt:lpstr>
      <vt:lpstr>Office Theme</vt:lpstr>
      <vt:lpstr>Capstone Three Presentation</vt:lpstr>
      <vt:lpstr>Problem Statement</vt:lpstr>
      <vt:lpstr>Dataset Description</vt:lpstr>
      <vt:lpstr>Data Wrangling</vt:lpstr>
      <vt:lpstr>Exploratory Data Analysis – EDA.</vt:lpstr>
      <vt:lpstr>Exploratory Data Analysis – EDA.</vt:lpstr>
      <vt:lpstr>Exploratory Data Analysis – EDA.</vt:lpstr>
      <vt:lpstr>Exploratory Data Analysis – EDA.</vt:lpstr>
      <vt:lpstr>Exploratory Data Analysis – EDA.</vt:lpstr>
      <vt:lpstr>Modeling Approach</vt:lpstr>
      <vt:lpstr>Modeling Approach</vt:lpstr>
      <vt:lpstr>Modeling Approach</vt:lpstr>
      <vt:lpstr>Modeling Approach</vt:lpstr>
      <vt:lpstr>Recommendations &amp; Future Work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Benoit Loze</dc:creator>
  <cp:keywords/>
  <dc:description>generated using python-pptx</dc:description>
  <cp:lastModifiedBy>Benoit Loze</cp:lastModifiedBy>
  <cp:revision>15</cp:revision>
  <dcterms:created xsi:type="dcterms:W3CDTF">2013-01-27T09:14:16Z</dcterms:created>
  <dcterms:modified xsi:type="dcterms:W3CDTF">2025-08-26T06:49:10Z</dcterms:modified>
  <cp:category/>
</cp:coreProperties>
</file>